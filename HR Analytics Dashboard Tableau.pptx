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shwarya Pawar" userId="5995a75d0eb4ea79" providerId="LiveId" clId="{315C8E41-2097-4BC6-A7B2-B5FC5E6EF448}"/>
    <pc:docChg chg="modSld">
      <pc:chgData name="Aishwarya Pawar" userId="5995a75d0eb4ea79" providerId="LiveId" clId="{315C8E41-2097-4BC6-A7B2-B5FC5E6EF448}" dt="2025-11-15T08:53:07.539" v="4" actId="1036"/>
      <pc:docMkLst>
        <pc:docMk/>
      </pc:docMkLst>
      <pc:sldChg chg="modSp mod">
        <pc:chgData name="Aishwarya Pawar" userId="5995a75d0eb4ea79" providerId="LiveId" clId="{315C8E41-2097-4BC6-A7B2-B5FC5E6EF448}" dt="2025-11-15T08:53:07.539" v="4" actId="1036"/>
        <pc:sldMkLst>
          <pc:docMk/>
          <pc:sldMk cId="3502554277" sldId="261"/>
        </pc:sldMkLst>
        <pc:picChg chg="mod">
          <ac:chgData name="Aishwarya Pawar" userId="5995a75d0eb4ea79" providerId="LiveId" clId="{315C8E41-2097-4BC6-A7B2-B5FC5E6EF448}" dt="2025-11-15T08:53:07.539" v="4" actId="1036"/>
          <ac:picMkLst>
            <pc:docMk/>
            <pc:sldMk cId="3502554277" sldId="261"/>
            <ac:picMk id="5" creationId="{28DD2011-7E64-9AD0-783B-E4C343AA534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CBC74FF-02D2-4D96-BACF-21BB1AEB70FE}"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1630969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BC74FF-02D2-4D96-BACF-21BB1AEB70FE}"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3104205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BC74FF-02D2-4D96-BACF-21BB1AEB70FE}"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3028757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BC74FF-02D2-4D96-BACF-21BB1AEB70FE}"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2006980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BC74FF-02D2-4D96-BACF-21BB1AEB70FE}"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336495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BC74FF-02D2-4D96-BACF-21BB1AEB70FE}"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745483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BC74FF-02D2-4D96-BACF-21BB1AEB70FE}" type="datetimeFigureOut">
              <a:rPr lang="en-IN" smtClean="0"/>
              <a:t>15-11-2025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3987846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BC74FF-02D2-4D96-BACF-21BB1AEB70FE}"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322794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BC74FF-02D2-4D96-BACF-21BB1AEB70FE}"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135630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BC74FF-02D2-4D96-BACF-21BB1AEB70FE}"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3386803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BC74FF-02D2-4D96-BACF-21BB1AEB70FE}"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844630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BC74FF-02D2-4D96-BACF-21BB1AEB70FE}"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D372ED-2988-4BC9-9E3C-CC148E6D319F}" type="slidenum">
              <a:rPr lang="en-IN" smtClean="0"/>
              <a:t>‹#›</a:t>
            </a:fld>
            <a:endParaRPr lang="en-IN"/>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50475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BC74FF-02D2-4D96-BACF-21BB1AEB70FE}"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661369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C74FF-02D2-4D96-BACF-21BB1AEB70FE}"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23438492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C74FF-02D2-4D96-BACF-21BB1AEB70FE}"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3018325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BC74FF-02D2-4D96-BACF-21BB1AEB70FE}"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273244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BC74FF-02D2-4D96-BACF-21BB1AEB70FE}"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D372ED-2988-4BC9-9E3C-CC148E6D319F}" type="slidenum">
              <a:rPr lang="en-IN" smtClean="0"/>
              <a:t>‹#›</a:t>
            </a:fld>
            <a:endParaRPr lang="en-IN"/>
          </a:p>
        </p:txBody>
      </p:sp>
    </p:spTree>
    <p:extLst>
      <p:ext uri="{BB962C8B-B14F-4D97-AF65-F5344CB8AC3E}">
        <p14:creationId xmlns:p14="http://schemas.microsoft.com/office/powerpoint/2010/main" val="2264497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3CBC74FF-02D2-4D96-BACF-21BB1AEB70FE}" type="datetimeFigureOut">
              <a:rPr lang="en-IN" smtClean="0"/>
              <a:t>15-11-2025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1D372ED-2988-4BC9-9E3C-CC148E6D319F}" type="slidenum">
              <a:rPr lang="en-IN" smtClean="0"/>
              <a:t>‹#›</a:t>
            </a:fld>
            <a:endParaRPr lang="en-IN"/>
          </a:p>
        </p:txBody>
      </p:sp>
    </p:spTree>
    <p:extLst>
      <p:ext uri="{BB962C8B-B14F-4D97-AF65-F5344CB8AC3E}">
        <p14:creationId xmlns:p14="http://schemas.microsoft.com/office/powerpoint/2010/main" val="185076693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urses.lumenlearning.com/wm-humanresourcesmgmt/chapter/best-practices-in-people-analytics/"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urses.lumenlearning.com/wm-humanresourcesmgmt/chapter/best-practices-in-people-analytics/"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courses.lumenlearning.com/wm-humanresourcesmgmt/chapter/best-practices-in-people-analytics/"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courses.lumenlearning.com/wm-humanresourcesmgmt/chapter/best-practices-in-people-analytics/"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courses.lumenlearning.com/wm-humanresourcesmgmt/chapter/best-practices-in-people-analytics/"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courses.lumenlearning.com/wm-humanresourcesmgmt/chapter/best-practices-in-people-analytics/"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1C7832-3D5A-837C-B60D-742742F905E1}"/>
              </a:ext>
            </a:extLst>
          </p:cNvPr>
          <p:cNvSpPr txBox="1"/>
          <p:nvPr/>
        </p:nvSpPr>
        <p:spPr>
          <a:xfrm>
            <a:off x="1226917" y="1855732"/>
            <a:ext cx="9456516" cy="2800767"/>
          </a:xfrm>
          <a:prstGeom prst="rect">
            <a:avLst/>
          </a:prstGeom>
          <a:noFill/>
        </p:spPr>
        <p:txBody>
          <a:bodyPr wrap="square" rtlCol="0">
            <a:spAutoFit/>
          </a:bodyPr>
          <a:lstStyle/>
          <a:p>
            <a:pPr algn="ctr"/>
            <a:r>
              <a:rPr lang="en-IN" sz="8800" b="1" dirty="0">
                <a:ln w="9525">
                  <a:solidFill>
                    <a:schemeClr val="bg1"/>
                  </a:solidFill>
                  <a:prstDash val="solid"/>
                </a:ln>
                <a:effectLst>
                  <a:outerShdw blurRad="12700" dist="38100" dir="2700000" algn="tl" rotWithShape="0">
                    <a:schemeClr val="bg1">
                      <a:lumMod val="50000"/>
                    </a:schemeClr>
                  </a:outerShdw>
                </a:effectLst>
              </a:rPr>
              <a:t>HR ANALYTICS DASHBOARD</a:t>
            </a:r>
          </a:p>
        </p:txBody>
      </p:sp>
      <p:sp>
        <p:nvSpPr>
          <p:cNvPr id="5" name="TextBox 4">
            <a:extLst>
              <a:ext uri="{FF2B5EF4-FFF2-40B4-BE49-F238E27FC236}">
                <a16:creationId xmlns:a16="http://schemas.microsoft.com/office/drawing/2014/main" id="{5EB46F11-3932-1238-7A10-C55BA31C68E5}"/>
              </a:ext>
            </a:extLst>
          </p:cNvPr>
          <p:cNvSpPr txBox="1"/>
          <p:nvPr/>
        </p:nvSpPr>
        <p:spPr>
          <a:xfrm>
            <a:off x="7319058" y="5206258"/>
            <a:ext cx="5127585" cy="1200329"/>
          </a:xfrm>
          <a:prstGeom prst="rect">
            <a:avLst/>
          </a:prstGeom>
          <a:noFill/>
        </p:spPr>
        <p:txBody>
          <a:bodyPr wrap="square" rtlCol="0">
            <a:spAutoFit/>
          </a:bodyPr>
          <a:lstStyle/>
          <a:p>
            <a:r>
              <a:rPr lang="en-IN" sz="2400" b="1" dirty="0"/>
              <a:t>Prepared By : Aishwarya  Pawar</a:t>
            </a:r>
          </a:p>
          <a:p>
            <a:r>
              <a:rPr lang="en-IN" sz="2400" b="1" dirty="0"/>
              <a:t>Tool Used      :  Tableau</a:t>
            </a:r>
          </a:p>
          <a:p>
            <a:r>
              <a:rPr lang="en-IN" sz="2400" b="1" dirty="0"/>
              <a:t>Date                : October 2025</a:t>
            </a:r>
          </a:p>
        </p:txBody>
      </p:sp>
      <p:pic>
        <p:nvPicPr>
          <p:cNvPr id="14" name="Picture 13">
            <a:extLst>
              <a:ext uri="{FF2B5EF4-FFF2-40B4-BE49-F238E27FC236}">
                <a16:creationId xmlns:a16="http://schemas.microsoft.com/office/drawing/2014/main" id="{16C6FEC2-3327-8DB1-454D-C0864D3943D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74200" y="892471"/>
            <a:ext cx="1123352" cy="96776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092181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58942F-60DB-8BE3-D31C-8D95A4674EA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6615" y="140119"/>
            <a:ext cx="912198" cy="78585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TextBox 3">
            <a:extLst>
              <a:ext uri="{FF2B5EF4-FFF2-40B4-BE49-F238E27FC236}">
                <a16:creationId xmlns:a16="http://schemas.microsoft.com/office/drawing/2014/main" id="{B697E5E5-281C-59EA-03FE-5D96F87B1045}"/>
              </a:ext>
            </a:extLst>
          </p:cNvPr>
          <p:cNvSpPr txBox="1"/>
          <p:nvPr/>
        </p:nvSpPr>
        <p:spPr>
          <a:xfrm>
            <a:off x="1562581" y="1192191"/>
            <a:ext cx="9560689" cy="3970318"/>
          </a:xfrm>
          <a:prstGeom prst="rect">
            <a:avLst/>
          </a:prstGeom>
          <a:noFill/>
        </p:spPr>
        <p:txBody>
          <a:bodyPr wrap="square" rtlCol="0">
            <a:spAutoFit/>
          </a:bodyPr>
          <a:lstStyle/>
          <a:p>
            <a:pPr marL="571500" indent="-571500">
              <a:buFont typeface="Wingdings" panose="05000000000000000000" pitchFamily="2" charset="2"/>
              <a:buChar char="q"/>
            </a:pPr>
            <a:r>
              <a:rPr lang="en-US" sz="4000" b="1" dirty="0">
                <a:ln w="9525">
                  <a:solidFill>
                    <a:schemeClr val="bg1"/>
                  </a:solidFill>
                  <a:prstDash val="solid"/>
                </a:ln>
                <a:effectLst>
                  <a:outerShdw blurRad="12700" dist="38100" dir="2700000" algn="tl" rotWithShape="0">
                    <a:schemeClr val="bg1">
                      <a:lumMod val="50000"/>
                    </a:schemeClr>
                  </a:outerShdw>
                </a:effectLst>
              </a:rPr>
              <a:t>Problem  Statement </a:t>
            </a:r>
            <a:r>
              <a:rPr lang="en-US" sz="3200" b="1" dirty="0"/>
              <a:t>:</a:t>
            </a:r>
          </a:p>
          <a:p>
            <a:endParaRPr lang="en-US" sz="3200" b="1" dirty="0"/>
          </a:p>
          <a:p>
            <a:endParaRPr lang="en-US" dirty="0"/>
          </a:p>
          <a:p>
            <a:r>
              <a:rPr lang="en-US" sz="2400" b="1" dirty="0"/>
              <a:t>“The purpose of this dashboard is to analyze employee data and identify patterns in attrition so HR can take action to improve employee retention.”</a:t>
            </a:r>
          </a:p>
          <a:p>
            <a:endParaRPr lang="en-US" dirty="0"/>
          </a:p>
          <a:p>
            <a:r>
              <a:rPr lang="en-US" sz="2400" dirty="0"/>
              <a:t>The company wants to understand why employees are leaving and which departments or groups are most affected. The goal is to analyze attrition and identify areas that need improvement.</a:t>
            </a:r>
            <a:endParaRPr lang="en-IN" sz="2400" dirty="0"/>
          </a:p>
        </p:txBody>
      </p:sp>
    </p:spTree>
    <p:extLst>
      <p:ext uri="{BB962C8B-B14F-4D97-AF65-F5344CB8AC3E}">
        <p14:creationId xmlns:p14="http://schemas.microsoft.com/office/powerpoint/2010/main" val="23939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700CCB-9C34-E23C-49D9-F5BC08C08B0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6615" y="140119"/>
            <a:ext cx="912198" cy="78585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TextBox 3">
            <a:extLst>
              <a:ext uri="{FF2B5EF4-FFF2-40B4-BE49-F238E27FC236}">
                <a16:creationId xmlns:a16="http://schemas.microsoft.com/office/drawing/2014/main" id="{BD394079-2AFF-079E-5A25-02664A41DA77}"/>
              </a:ext>
            </a:extLst>
          </p:cNvPr>
          <p:cNvSpPr txBox="1"/>
          <p:nvPr/>
        </p:nvSpPr>
        <p:spPr>
          <a:xfrm>
            <a:off x="1657108" y="451414"/>
            <a:ext cx="8877783" cy="6247864"/>
          </a:xfrm>
          <a:prstGeom prst="rect">
            <a:avLst/>
          </a:prstGeom>
          <a:noFill/>
        </p:spPr>
        <p:txBody>
          <a:bodyPr wrap="square" rtlCol="0">
            <a:spAutoFit/>
          </a:bodyPr>
          <a:lstStyle/>
          <a:p>
            <a:pPr marL="571500" indent="-571500">
              <a:buFont typeface="Wingdings" panose="05000000000000000000" pitchFamily="2" charset="2"/>
              <a:buChar char="q"/>
            </a:pPr>
            <a:r>
              <a:rPr lang="en-IN" sz="3600" b="1" dirty="0">
                <a:ln w="9525">
                  <a:solidFill>
                    <a:schemeClr val="bg1"/>
                  </a:solidFill>
                  <a:prstDash val="solid"/>
                </a:ln>
                <a:effectLst>
                  <a:outerShdw blurRad="12700" dist="38100" dir="2700000" algn="tl" rotWithShape="0">
                    <a:schemeClr val="bg1">
                      <a:lumMod val="50000"/>
                    </a:schemeClr>
                  </a:outerShdw>
                </a:effectLst>
              </a:rPr>
              <a:t>Get Data :</a:t>
            </a:r>
          </a:p>
          <a:p>
            <a:r>
              <a:rPr lang="en-IN" dirty="0"/>
              <a:t> </a:t>
            </a:r>
          </a:p>
          <a:p>
            <a:pPr marL="457200" indent="-457200">
              <a:buFont typeface="Arial" panose="020B0604020202020204" pitchFamily="34" charset="0"/>
              <a:buChar char="•"/>
            </a:pPr>
            <a:r>
              <a:rPr lang="en-IN"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Dataset Name </a:t>
            </a:r>
            <a:r>
              <a:rPr lang="en-IN" sz="2400" dirty="0"/>
              <a:t>: HR </a:t>
            </a:r>
            <a:r>
              <a:rPr lang="en-IN" sz="2400" dirty="0" err="1"/>
              <a:t>Analystics</a:t>
            </a:r>
            <a:r>
              <a:rPr lang="en-IN" sz="2400" dirty="0"/>
              <a:t> Dataset</a:t>
            </a:r>
          </a:p>
          <a:p>
            <a:endParaRPr lang="en-IN" dirty="0"/>
          </a:p>
          <a:p>
            <a:pPr marL="457200" indent="-457200">
              <a:buFont typeface="Arial" panose="020B0604020202020204" pitchFamily="34" charset="0"/>
              <a:buChar char="•"/>
            </a:pPr>
            <a:r>
              <a:rPr lang="en-IN"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Source</a:t>
            </a:r>
            <a:r>
              <a:rPr lang="en-IN"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 </a:t>
            </a:r>
            <a:r>
              <a:rPr lang="en-IN" dirty="0"/>
              <a:t>  </a:t>
            </a:r>
            <a:r>
              <a:rPr lang="en-IN" sz="2400" dirty="0"/>
              <a:t>: Public Dataset Kaggle</a:t>
            </a:r>
          </a:p>
          <a:p>
            <a:pPr marL="285750" indent="-285750">
              <a:buFont typeface="Arial" panose="020B0604020202020204" pitchFamily="34" charset="0"/>
              <a:buChar char="•"/>
            </a:pPr>
            <a:endParaRPr lang="en-IN" dirty="0"/>
          </a:p>
          <a:p>
            <a:pPr marL="457200" indent="-457200">
              <a:buFont typeface="Arial" panose="020B0604020202020204" pitchFamily="34" charset="0"/>
              <a:buChar char="•"/>
            </a:pPr>
            <a:r>
              <a:rPr lang="en-IN"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Data Used :  </a:t>
            </a:r>
          </a:p>
          <a:p>
            <a:r>
              <a:rPr lang="en-US" sz="2400" b="1" dirty="0"/>
              <a:t>      </a:t>
            </a:r>
            <a:r>
              <a:rPr lang="en-US" sz="2000" b="1" dirty="0"/>
              <a:t>The data included basic employee information such as:</a:t>
            </a:r>
          </a:p>
          <a:p>
            <a:endParaRPr lang="en-US" sz="2000" b="1" dirty="0"/>
          </a:p>
          <a:p>
            <a:pPr marL="342900" indent="-342900">
              <a:buFont typeface="Wingdings" panose="05000000000000000000" pitchFamily="2" charset="2"/>
              <a:buChar char="§"/>
            </a:pPr>
            <a:r>
              <a:rPr lang="en-US" sz="2000" dirty="0"/>
              <a:t>Employee ID</a:t>
            </a:r>
          </a:p>
          <a:p>
            <a:pPr marL="342900" indent="-342900">
              <a:buFont typeface="Wingdings" panose="05000000000000000000" pitchFamily="2" charset="2"/>
              <a:buChar char="§"/>
            </a:pPr>
            <a:r>
              <a:rPr lang="en-US" sz="2000" dirty="0"/>
              <a:t>Age</a:t>
            </a:r>
          </a:p>
          <a:p>
            <a:pPr marL="342900" indent="-342900">
              <a:buFont typeface="Wingdings" panose="05000000000000000000" pitchFamily="2" charset="2"/>
              <a:buChar char="§"/>
            </a:pPr>
            <a:r>
              <a:rPr lang="en-US" sz="2000" dirty="0"/>
              <a:t>Gender</a:t>
            </a:r>
          </a:p>
          <a:p>
            <a:pPr marL="342900" indent="-342900">
              <a:buFont typeface="Wingdings" panose="05000000000000000000" pitchFamily="2" charset="2"/>
              <a:buChar char="§"/>
            </a:pPr>
            <a:r>
              <a:rPr lang="en-US" sz="2000" dirty="0"/>
              <a:t>Department</a:t>
            </a:r>
          </a:p>
          <a:p>
            <a:pPr marL="342900" indent="-342900">
              <a:buFont typeface="Wingdings" panose="05000000000000000000" pitchFamily="2" charset="2"/>
              <a:buChar char="§"/>
            </a:pPr>
            <a:r>
              <a:rPr lang="en-US" sz="2000" dirty="0"/>
              <a:t>Education Field</a:t>
            </a:r>
          </a:p>
          <a:p>
            <a:pPr marL="342900" indent="-342900">
              <a:buFont typeface="Wingdings" panose="05000000000000000000" pitchFamily="2" charset="2"/>
              <a:buChar char="§"/>
            </a:pPr>
            <a:r>
              <a:rPr lang="en-US" sz="2000" dirty="0"/>
              <a:t>Job Role</a:t>
            </a:r>
          </a:p>
          <a:p>
            <a:pPr marL="342900" indent="-342900">
              <a:buFont typeface="Wingdings" panose="05000000000000000000" pitchFamily="2" charset="2"/>
              <a:buChar char="§"/>
            </a:pPr>
            <a:r>
              <a:rPr lang="en-US" sz="2000" dirty="0"/>
              <a:t>Job Satisfaction</a:t>
            </a:r>
          </a:p>
          <a:p>
            <a:pPr marL="342900" indent="-342900">
              <a:buFont typeface="Wingdings" panose="05000000000000000000" pitchFamily="2" charset="2"/>
              <a:buChar char="§"/>
            </a:pPr>
            <a:r>
              <a:rPr lang="en-US" sz="2000" dirty="0"/>
              <a:t>Attrition (Yes/No)</a:t>
            </a:r>
          </a:p>
          <a:p>
            <a:endParaRPr lang="en-IN" dirty="0"/>
          </a:p>
        </p:txBody>
      </p:sp>
    </p:spTree>
    <p:extLst>
      <p:ext uri="{BB962C8B-B14F-4D97-AF65-F5344CB8AC3E}">
        <p14:creationId xmlns:p14="http://schemas.microsoft.com/office/powerpoint/2010/main" val="4014262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2A6595-0AD8-D662-A7AD-0F5FBEA9CC7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6615" y="140119"/>
            <a:ext cx="912198" cy="78585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TextBox 1">
            <a:extLst>
              <a:ext uri="{FF2B5EF4-FFF2-40B4-BE49-F238E27FC236}">
                <a16:creationId xmlns:a16="http://schemas.microsoft.com/office/drawing/2014/main" id="{97AB94E5-B414-B2A7-B044-AD4CDC932725}"/>
              </a:ext>
            </a:extLst>
          </p:cNvPr>
          <p:cNvSpPr txBox="1"/>
          <p:nvPr/>
        </p:nvSpPr>
        <p:spPr>
          <a:xfrm>
            <a:off x="1170037" y="140119"/>
            <a:ext cx="9144001" cy="4401205"/>
          </a:xfrm>
          <a:prstGeom prst="rect">
            <a:avLst/>
          </a:prstGeom>
          <a:noFill/>
        </p:spPr>
        <p:txBody>
          <a:bodyPr wrap="square" rtlCol="0">
            <a:spAutoFit/>
          </a:bodyPr>
          <a:lstStyle/>
          <a:p>
            <a:pPr marL="457200" indent="-457200">
              <a:buFont typeface="Wingdings" panose="05000000000000000000" pitchFamily="2" charset="2"/>
              <a:buChar char="q"/>
            </a:pPr>
            <a:r>
              <a:rPr lang="en-IN" sz="2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Suggested Visuals :</a:t>
            </a:r>
          </a:p>
          <a:p>
            <a:endParaRPr lang="en-IN" dirty="0"/>
          </a:p>
          <a:p>
            <a:pPr marL="342900" indent="-342900">
              <a:buFont typeface="Arial" panose="020B0604020202020204" pitchFamily="34" charset="0"/>
              <a:buChar char="•"/>
            </a:pPr>
            <a:r>
              <a:rPr lang="en-US" b="1" dirty="0"/>
              <a:t>KPI Cards </a:t>
            </a:r>
            <a:r>
              <a:rPr lang="en-US" sz="1600" b="1" dirty="0"/>
              <a:t>: </a:t>
            </a:r>
            <a:r>
              <a:rPr lang="en-US" sz="1600" dirty="0"/>
              <a:t> Employee count, attrition count, attrition rate, active employees, average age</a:t>
            </a:r>
          </a:p>
          <a:p>
            <a:endParaRPr lang="en-US" sz="1600" dirty="0"/>
          </a:p>
          <a:p>
            <a:pPr marL="342900" indent="-342900">
              <a:buFont typeface="Arial" panose="020B0604020202020204" pitchFamily="34" charset="0"/>
              <a:buChar char="•"/>
            </a:pPr>
            <a:r>
              <a:rPr lang="en-US" b="1" dirty="0"/>
              <a:t>Pie Chart </a:t>
            </a:r>
            <a:r>
              <a:rPr lang="en-US" sz="1600" b="1" dirty="0"/>
              <a:t>: </a:t>
            </a:r>
            <a:r>
              <a:rPr lang="en-US" sz="1600" dirty="0"/>
              <a:t> Department-wise attrition</a:t>
            </a:r>
          </a:p>
          <a:p>
            <a:endParaRPr lang="en-US" sz="1600" dirty="0"/>
          </a:p>
          <a:p>
            <a:pPr marL="342900" indent="-342900">
              <a:buFont typeface="Arial" panose="020B0604020202020204" pitchFamily="34" charset="0"/>
              <a:buChar char="•"/>
            </a:pPr>
            <a:r>
              <a:rPr lang="en-US" b="1" dirty="0"/>
              <a:t>Bar Chart :</a:t>
            </a:r>
            <a:r>
              <a:rPr lang="en-US" dirty="0"/>
              <a:t>  </a:t>
            </a:r>
            <a:r>
              <a:rPr lang="en-US" sz="1600" dirty="0"/>
              <a:t>Education field-wise attrition</a:t>
            </a:r>
          </a:p>
          <a:p>
            <a:endParaRPr lang="en-US" sz="1600" dirty="0"/>
          </a:p>
          <a:p>
            <a:pPr marL="342900" indent="-342900">
              <a:buFont typeface="Arial" panose="020B0604020202020204" pitchFamily="34" charset="0"/>
              <a:buChar char="•"/>
            </a:pPr>
            <a:r>
              <a:rPr lang="en-US" b="1" dirty="0"/>
              <a:t>Histogram :</a:t>
            </a:r>
            <a:r>
              <a:rPr lang="en-US" sz="1600" dirty="0"/>
              <a:t>  Age distribution</a:t>
            </a:r>
          </a:p>
          <a:p>
            <a:endParaRPr lang="en-US" sz="1600" dirty="0"/>
          </a:p>
          <a:p>
            <a:pPr marL="342900" indent="-342900">
              <a:buFont typeface="Arial" panose="020B0604020202020204" pitchFamily="34" charset="0"/>
              <a:buChar char="•"/>
            </a:pPr>
            <a:r>
              <a:rPr lang="en-US" b="1" dirty="0"/>
              <a:t>Matrix </a:t>
            </a:r>
            <a:r>
              <a:rPr lang="en-US" sz="1600" b="1" dirty="0"/>
              <a:t>: </a:t>
            </a:r>
            <a:r>
              <a:rPr lang="en-US" sz="1600" dirty="0"/>
              <a:t> Job satisfaction by job role</a:t>
            </a:r>
          </a:p>
          <a:p>
            <a:endParaRPr lang="en-US" sz="1600" dirty="0"/>
          </a:p>
          <a:p>
            <a:pPr marL="342900" indent="-342900">
              <a:buFont typeface="Arial" panose="020B0604020202020204" pitchFamily="34" charset="0"/>
              <a:buChar char="•"/>
            </a:pPr>
            <a:r>
              <a:rPr lang="en-US" b="1" dirty="0"/>
              <a:t>Donut Charts </a:t>
            </a:r>
            <a:r>
              <a:rPr lang="en-US" sz="1600" b="1" dirty="0"/>
              <a:t>:</a:t>
            </a:r>
            <a:r>
              <a:rPr lang="en-US" sz="1600" dirty="0"/>
              <a:t>  Gender-wise and age-group-wise attrition</a:t>
            </a:r>
          </a:p>
          <a:p>
            <a:endParaRPr lang="en-US" sz="1600" dirty="0"/>
          </a:p>
          <a:p>
            <a:pPr marL="285750" indent="-285750">
              <a:buFont typeface="Arial" panose="020B0604020202020204" pitchFamily="34" charset="0"/>
              <a:buChar char="•"/>
            </a:pPr>
            <a:r>
              <a:rPr lang="en-US" b="1" dirty="0"/>
              <a:t>Education Slicer  </a:t>
            </a:r>
            <a:r>
              <a:rPr lang="en-US" sz="1600" b="1" dirty="0"/>
              <a:t>: </a:t>
            </a:r>
            <a:r>
              <a:rPr lang="en-US" sz="1600" dirty="0"/>
              <a:t>Used to filter the dashboard by different education fields.</a:t>
            </a:r>
          </a:p>
          <a:p>
            <a:endParaRPr lang="en-IN" dirty="0"/>
          </a:p>
        </p:txBody>
      </p:sp>
      <p:sp>
        <p:nvSpPr>
          <p:cNvPr id="5" name="TextBox 4">
            <a:extLst>
              <a:ext uri="{FF2B5EF4-FFF2-40B4-BE49-F238E27FC236}">
                <a16:creationId xmlns:a16="http://schemas.microsoft.com/office/drawing/2014/main" id="{E31340E7-97E9-212A-5CAB-D3FA910072A9}"/>
              </a:ext>
            </a:extLst>
          </p:cNvPr>
          <p:cNvSpPr txBox="1"/>
          <p:nvPr/>
        </p:nvSpPr>
        <p:spPr>
          <a:xfrm>
            <a:off x="1058813" y="4532667"/>
            <a:ext cx="6980904" cy="2185214"/>
          </a:xfrm>
          <a:prstGeom prst="rect">
            <a:avLst/>
          </a:prstGeom>
          <a:noFill/>
        </p:spPr>
        <p:txBody>
          <a:bodyPr wrap="square" rtlCol="0">
            <a:spAutoFit/>
          </a:bodyPr>
          <a:lstStyle/>
          <a:p>
            <a:pPr marL="342900" indent="-342900">
              <a:buFont typeface="Wingdings" panose="05000000000000000000" pitchFamily="2" charset="2"/>
              <a:buChar char="q"/>
            </a:pPr>
            <a:r>
              <a:rPr lang="en-IN" sz="2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Key Measures (Calculated Logic) :</a:t>
            </a:r>
          </a:p>
          <a:p>
            <a:endParaRPr lang="en-IN"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pPr marL="285750" indent="-285750">
              <a:buFont typeface="Arial" panose="020B0604020202020204" pitchFamily="34" charset="0"/>
              <a:buChar char="•"/>
            </a:pPr>
            <a:r>
              <a:rPr lang="en-IN" b="1" dirty="0"/>
              <a:t>Attrition Count </a:t>
            </a:r>
            <a:r>
              <a:rPr lang="en-IN" dirty="0"/>
              <a:t>: </a:t>
            </a:r>
            <a:r>
              <a:rPr lang="en-US" dirty="0"/>
              <a:t>IF[Attrition]="</a:t>
            </a:r>
            <a:r>
              <a:rPr lang="en-US" dirty="0" err="1"/>
              <a:t>Yes"THEN</a:t>
            </a:r>
            <a:r>
              <a:rPr lang="en-US" dirty="0"/>
              <a:t> 1 ELSE 0 END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Attrition Rate : </a:t>
            </a:r>
            <a:r>
              <a:rPr lang="en-US" dirty="0"/>
              <a:t>SUM([Attrition count])/SUM([Employee Count])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Active Employee </a:t>
            </a:r>
            <a:r>
              <a:rPr lang="en-US" dirty="0"/>
              <a:t>: SUM([Employee Count])-SUM([Attrition count])</a:t>
            </a:r>
            <a:endParaRPr lang="en-IN" dirty="0"/>
          </a:p>
        </p:txBody>
      </p:sp>
    </p:spTree>
    <p:extLst>
      <p:ext uri="{BB962C8B-B14F-4D97-AF65-F5344CB8AC3E}">
        <p14:creationId xmlns:p14="http://schemas.microsoft.com/office/powerpoint/2010/main" val="549307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922DF8-FEE5-4FB7-5DAC-DC0BCFFD38E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6615" y="140119"/>
            <a:ext cx="912198" cy="78585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a:extLst>
              <a:ext uri="{FF2B5EF4-FFF2-40B4-BE49-F238E27FC236}">
                <a16:creationId xmlns:a16="http://schemas.microsoft.com/office/drawing/2014/main" id="{28DD2011-7E64-9AD0-783B-E4C343AA53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615" y="1042218"/>
            <a:ext cx="11878442" cy="5714991"/>
          </a:xfrm>
          <a:prstGeom prst="rect">
            <a:avLst/>
          </a:prstGeom>
        </p:spPr>
      </p:pic>
      <p:sp>
        <p:nvSpPr>
          <p:cNvPr id="6" name="TextBox 5">
            <a:extLst>
              <a:ext uri="{FF2B5EF4-FFF2-40B4-BE49-F238E27FC236}">
                <a16:creationId xmlns:a16="http://schemas.microsoft.com/office/drawing/2014/main" id="{C3E83F65-86DC-F56A-BA46-A2A28F04BFB8}"/>
              </a:ext>
            </a:extLst>
          </p:cNvPr>
          <p:cNvSpPr txBox="1"/>
          <p:nvPr/>
        </p:nvSpPr>
        <p:spPr>
          <a:xfrm>
            <a:off x="1179872" y="271438"/>
            <a:ext cx="2871019" cy="523220"/>
          </a:xfrm>
          <a:prstGeom prst="rect">
            <a:avLst/>
          </a:prstGeom>
          <a:noFill/>
        </p:spPr>
        <p:txBody>
          <a:bodyPr wrap="square" rtlCol="0">
            <a:spAutoFit/>
          </a:bodyPr>
          <a:lstStyle/>
          <a:p>
            <a:pPr marL="457200" indent="-457200">
              <a:buFont typeface="Wingdings" panose="05000000000000000000" pitchFamily="2" charset="2"/>
              <a:buChar char="q"/>
            </a:pPr>
            <a:r>
              <a:rPr lang="en-IN"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Dashboard : </a:t>
            </a:r>
          </a:p>
        </p:txBody>
      </p:sp>
    </p:spTree>
    <p:extLst>
      <p:ext uri="{BB962C8B-B14F-4D97-AF65-F5344CB8AC3E}">
        <p14:creationId xmlns:p14="http://schemas.microsoft.com/office/powerpoint/2010/main" val="3502554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DF4050-D3CC-8774-0D0A-B74E9B63ACF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6615" y="140119"/>
            <a:ext cx="912198" cy="78585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TextBox 1">
            <a:extLst>
              <a:ext uri="{FF2B5EF4-FFF2-40B4-BE49-F238E27FC236}">
                <a16:creationId xmlns:a16="http://schemas.microsoft.com/office/drawing/2014/main" id="{14D09828-AC4C-537A-F667-AAFDF542BEB4}"/>
              </a:ext>
            </a:extLst>
          </p:cNvPr>
          <p:cNvSpPr txBox="1"/>
          <p:nvPr/>
        </p:nvSpPr>
        <p:spPr>
          <a:xfrm>
            <a:off x="1592826" y="560439"/>
            <a:ext cx="7806812" cy="3077766"/>
          </a:xfrm>
          <a:prstGeom prst="rect">
            <a:avLst/>
          </a:prstGeom>
          <a:noFill/>
        </p:spPr>
        <p:txBody>
          <a:bodyPr wrap="square" rtlCol="0">
            <a:spAutoFit/>
          </a:bodyPr>
          <a:lstStyle/>
          <a:p>
            <a:pPr marL="457200" indent="-457200">
              <a:buFont typeface="Wingdings" panose="05000000000000000000" pitchFamily="2" charset="2"/>
              <a:buChar char="q"/>
            </a:pPr>
            <a:r>
              <a:rPr 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 Key Insights Of Dashboard:</a:t>
            </a:r>
          </a:p>
          <a:p>
            <a:endParaRPr 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pPr marL="342900" indent="-342900">
              <a:buFont typeface="Arial" panose="020B0604020202020204" pitchFamily="34" charset="0"/>
              <a:buChar char="•"/>
            </a:pPr>
            <a:r>
              <a:rPr lang="en-US" sz="2400" dirty="0"/>
              <a:t>Attrition rate is moderate and needs attention.</a:t>
            </a:r>
          </a:p>
          <a:p>
            <a:pPr marL="342900" indent="-342900">
              <a:buFont typeface="Arial" panose="020B0604020202020204" pitchFamily="34" charset="0"/>
              <a:buChar char="•"/>
            </a:pPr>
            <a:r>
              <a:rPr lang="en-US" sz="2400" dirty="0"/>
              <a:t>R&amp;D and Sales departments have the highest attrition.</a:t>
            </a:r>
          </a:p>
          <a:p>
            <a:pPr marL="342900" indent="-342900">
              <a:buFont typeface="Arial" panose="020B0604020202020204" pitchFamily="34" charset="0"/>
              <a:buChar char="•"/>
            </a:pPr>
            <a:r>
              <a:rPr lang="en-US" sz="2400" dirty="0"/>
              <a:t>Most employees are in the 28–35 age group.</a:t>
            </a:r>
          </a:p>
          <a:p>
            <a:pPr marL="342900" indent="-342900">
              <a:buFont typeface="Arial" panose="020B0604020202020204" pitchFamily="34" charset="0"/>
              <a:buChar char="•"/>
            </a:pPr>
            <a:r>
              <a:rPr lang="en-US" sz="2400" dirty="0"/>
              <a:t>Male attrition is higher than female.</a:t>
            </a:r>
          </a:p>
          <a:p>
            <a:pPr marL="342900" indent="-342900">
              <a:buFont typeface="Arial" panose="020B0604020202020204" pitchFamily="34" charset="0"/>
              <a:buChar char="•"/>
            </a:pPr>
            <a:r>
              <a:rPr lang="en-US" sz="2400" dirty="0"/>
              <a:t>Some job roles show low job satisfaction.</a:t>
            </a:r>
          </a:p>
          <a:p>
            <a:endParaRPr lang="en-IN" dirty="0"/>
          </a:p>
        </p:txBody>
      </p:sp>
      <p:sp>
        <p:nvSpPr>
          <p:cNvPr id="4" name="TextBox 3">
            <a:extLst>
              <a:ext uri="{FF2B5EF4-FFF2-40B4-BE49-F238E27FC236}">
                <a16:creationId xmlns:a16="http://schemas.microsoft.com/office/drawing/2014/main" id="{9A00D062-D3E9-717E-3D8A-42065F78E303}"/>
              </a:ext>
            </a:extLst>
          </p:cNvPr>
          <p:cNvSpPr txBox="1"/>
          <p:nvPr/>
        </p:nvSpPr>
        <p:spPr>
          <a:xfrm>
            <a:off x="1592826" y="3952567"/>
            <a:ext cx="8396748" cy="2554545"/>
          </a:xfrm>
          <a:prstGeom prst="rect">
            <a:avLst/>
          </a:prstGeom>
          <a:noFill/>
        </p:spPr>
        <p:txBody>
          <a:bodyPr wrap="square" rtlCol="0">
            <a:spAutoFit/>
          </a:bodyPr>
          <a:lstStyle/>
          <a:p>
            <a:pPr marL="457200" indent="-457200">
              <a:buFont typeface="Wingdings" panose="05000000000000000000" pitchFamily="2" charset="2"/>
              <a:buChar char="q"/>
            </a:pPr>
            <a:r>
              <a:rPr 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Conclusion :</a:t>
            </a:r>
          </a:p>
          <a:p>
            <a:endParaRPr lang="en-US" b="1" dirty="0"/>
          </a:p>
          <a:p>
            <a:r>
              <a:rPr lang="en-US" sz="2400" dirty="0"/>
              <a:t>“The dashboard helps us clearly see where attrition is high and which employee groups need attention. By focusing on these areas, the company can improve job satisfaction and reduce employee turnover.”</a:t>
            </a:r>
          </a:p>
          <a:p>
            <a:endParaRPr lang="en-IN" dirty="0"/>
          </a:p>
        </p:txBody>
      </p:sp>
    </p:spTree>
    <p:extLst>
      <p:ext uri="{BB962C8B-B14F-4D97-AF65-F5344CB8AC3E}">
        <p14:creationId xmlns:p14="http://schemas.microsoft.com/office/powerpoint/2010/main" val="1223616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41A0DA-DD98-825B-3FD9-0CD4C36F66FB}"/>
              </a:ext>
            </a:extLst>
          </p:cNvPr>
          <p:cNvSpPr txBox="1"/>
          <p:nvPr/>
        </p:nvSpPr>
        <p:spPr>
          <a:xfrm>
            <a:off x="2507225" y="2310580"/>
            <a:ext cx="7334864" cy="1569660"/>
          </a:xfrm>
          <a:prstGeom prst="rect">
            <a:avLst/>
          </a:prstGeom>
          <a:noFill/>
        </p:spPr>
        <p:txBody>
          <a:bodyPr wrap="square" rtlCol="0">
            <a:spAutoFit/>
          </a:bodyPr>
          <a:lstStyle/>
          <a:p>
            <a:r>
              <a:rPr lang="en-IN" sz="9600" b="1" dirty="0">
                <a:ln w="9525">
                  <a:solidFill>
                    <a:schemeClr val="bg1"/>
                  </a:solidFill>
                  <a:prstDash val="solid"/>
                </a:ln>
                <a:effectLst>
                  <a:outerShdw blurRad="12700" dist="38100" dir="2700000" algn="tl" rotWithShape="0">
                    <a:schemeClr val="bg1">
                      <a:lumMod val="50000"/>
                    </a:schemeClr>
                  </a:outerShdw>
                </a:effectLst>
              </a:rPr>
              <a:t>THANK YOU</a:t>
            </a:r>
          </a:p>
        </p:txBody>
      </p:sp>
    </p:spTree>
    <p:extLst>
      <p:ext uri="{BB962C8B-B14F-4D97-AF65-F5344CB8AC3E}">
        <p14:creationId xmlns:p14="http://schemas.microsoft.com/office/powerpoint/2010/main" val="1290137188"/>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159</TotalTime>
  <Words>320</Words>
  <Application>Microsoft Office PowerPoint</Application>
  <PresentationFormat>Widescreen</PresentationFormat>
  <Paragraphs>61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Corbel</vt:lpstr>
      <vt:lpstr>Wingdings</vt:lpstr>
      <vt:lpstr>Depth</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Aishwarya Pawar</dc:creator>
  <cp:lastModifiedBy>Aishwarya Pawar</cp:lastModifiedBy>
  <cp:revision>12</cp:revision>
  <dcterms:created xsi:type="dcterms:W3CDTF">2025-11-14T08:48:56Z</dcterms:created>
  <dcterms:modified xsi:type="dcterms:W3CDTF">2025-11-15T08:56:44Z</dcterms:modified>
</cp:coreProperties>
</file>